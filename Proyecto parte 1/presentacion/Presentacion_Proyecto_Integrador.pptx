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2024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000000"/>
                </a:solidFill>
                <a:latin typeface="Arial"/>
              </a:rPr>
              <a:t>Patrones del Gasto Público Peruano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000000"/>
                </a:solidFill>
                <a:latin typeface="Arial"/>
              </a:rPr>
              <a:t>Minería de Datos Masivos y Flujos de Datos sobre contrataciones del Estado peruano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1148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000000"/>
                </a:solidFill>
                <a:latin typeface="Arial"/>
              </a:rPr>
              <a:t>Ricardo Amiel Acuña Villogas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000000"/>
                </a:solidFill>
                <a:latin typeface="Arial"/>
              </a:rPr>
              <a:t>Juan Leibniz Aquino Espinoza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000000"/>
                </a:solidFill>
                <a:latin typeface="Arial"/>
              </a:rPr>
              <a:t>Camilo Ernesto Soto Cristóbal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5778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0000"/>
                </a:solidFill>
                <a:latin typeface="Arial"/>
              </a:rPr>
              <a:t>Contrataciones Abiertas del Perú, estándar OCDS, publicación 135 del registro de Open Contracting Partnership. Paquetes 2023 a 2025.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0000"/>
                </a:solidFill>
                <a:latin typeface="Arial"/>
              </a:rPr>
              <a:t>Punto de partida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00000"/>
                </a:solidFill>
                <a:latin typeface="Arial"/>
              </a:rPr>
              <a:t>Dataset y preguntas de interés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1143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8813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90000"/>
              </a:lnSpc>
            </a:pPr>
            <a:r>
              <a:rPr sz="2000" b="0">
                <a:solidFill>
                  <a:srgbClr val="000000"/>
                </a:solidFill>
                <a:latin typeface="Arial"/>
              </a:rPr>
              <a:t>•   2,98 GB de CSV en 21 tablas por año, 2023 a 2025</a:t>
            </a:r>
          </a:p>
          <a:p>
            <a:pPr algn="l">
              <a:lnSpc>
                <a:spcPct val="190000"/>
              </a:lnSpc>
            </a:pPr>
            <a:r>
              <a:rPr sz="2000" b="0">
                <a:solidFill>
                  <a:srgbClr val="000000"/>
                </a:solidFill>
                <a:latin typeface="Arial"/>
              </a:rPr>
              <a:t>•   281.462 procesos crudos, 177.398 tras la limpieza</a:t>
            </a:r>
          </a:p>
          <a:p>
            <a:pPr algn="l">
              <a:lnSpc>
                <a:spcPct val="190000"/>
              </a:lnSpc>
            </a:pPr>
            <a:r>
              <a:rPr sz="2000" b="0">
                <a:solidFill>
                  <a:srgbClr val="000000"/>
                </a:solidFill>
                <a:latin typeface="Arial"/>
              </a:rPr>
              <a:t>•   Pregunta 1: qué tan concentrado está el gasto en pocos proveedores</a:t>
            </a:r>
          </a:p>
          <a:p>
            <a:pPr algn="l">
              <a:lnSpc>
                <a:spcPct val="190000"/>
              </a:lnSpc>
            </a:pPr>
            <a:r>
              <a:rPr sz="2000" b="0">
                <a:solidFill>
                  <a:srgbClr val="000000"/>
                </a:solidFill>
                <a:latin typeface="Arial"/>
              </a:rPr>
              <a:t>•   Pregunta 2: qué relación hay entre número de postores y monto</a:t>
            </a:r>
          </a:p>
          <a:p>
            <a:pPr algn="l">
              <a:lnSpc>
                <a:spcPct val="190000"/>
              </a:lnSpc>
            </a:pPr>
            <a:r>
              <a:rPr sz="2000" b="0">
                <a:solidFill>
                  <a:srgbClr val="000000"/>
                </a:solidFill>
                <a:latin typeface="Arial"/>
              </a:rPr>
              <a:t>•   Pregunta 3: hay apresuramiento del gasto al cierre del ejercicio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000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0000"/>
                </a:solidFill>
                <a:latin typeface="Arial"/>
              </a:rPr>
              <a:t>Visión de conjunto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00000"/>
                </a:solidFill>
                <a:latin typeface="Arial"/>
              </a:rPr>
              <a:t>Cómo encajan las cinco partes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1143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rquitectura_diapositi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10" y="1508760"/>
            <a:ext cx="10725899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806440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000000"/>
                </a:solidFill>
                <a:latin typeface="Arial"/>
              </a:rPr>
              <a:t>Lo único que viaja entre partes es la tabla analítica, de modo que son independientes; las líneas discontinuas marcan la pregunta que una parte deja abierta y otra recoge.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000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0000"/>
                </a:solidFill>
                <a:latin typeface="Arial"/>
              </a:rPr>
              <a:t>Parte I · KDD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00000"/>
                </a:solidFill>
                <a:latin typeface="Arial"/>
              </a:rPr>
              <a:t>Cada decisión de limpieza queda registrada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1143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00200"/>
          <a:ext cx="11064238" cy="30723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55821"/>
                <a:gridCol w="6405612"/>
                <a:gridCol w="2183731"/>
                <a:gridCol w="1019074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Arial"/>
                        </a:rPr>
                        <a:t>Paso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Arial"/>
                        </a:rPr>
                        <a:t>Qué hace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Arial"/>
                        </a:rPr>
                        <a:t>Filas afectadas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Arial"/>
                        </a:rPr>
                        <a:t>Quedan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entrada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tabla analitica cruda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281.462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duplicados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una fila por ocid, la mas reciente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281.462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descarte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monto_pen nulo o no positivo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22.830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258.632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descarte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fecha fuera de 2023 a 2025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81.234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177.398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imputacion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n_postores con la mediana de su metodo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6.655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177.398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marca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monto fuera de [6.37, 17.99] en escala log,…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565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177.398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recorte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n_postores winsorizado al percentil 99,9, t…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263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177.398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806440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000000"/>
                </a:solidFill>
                <a:latin typeface="Arial"/>
              </a:rPr>
              <a:t>El motor de limpieza devuelve una bitácora, de modo que ningún descarte queda escondido en el código.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0000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0000"/>
                </a:solidFill>
                <a:latin typeface="Arial"/>
              </a:rPr>
              <a:t>Parte I · KDD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00000"/>
                </a:solidFill>
                <a:latin typeface="Arial"/>
              </a:rPr>
              <a:t>Dos decisiones cuestan el 37 por ciento de las filas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1143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02_embu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881" y="1508760"/>
            <a:ext cx="9923756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806440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000000"/>
                </a:solidFill>
                <a:latin typeface="Arial"/>
              </a:rPr>
              <a:t>Se descartan los montos no positivos, que son campos no publicados, y las convocatorias fuera de la ventana 2023 a 2025.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000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0000"/>
                </a:solidFill>
                <a:latin typeface="Arial"/>
              </a:rPr>
              <a:t>Parte I · EDA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00000"/>
                </a:solidFill>
                <a:latin typeface="Arial"/>
              </a:rPr>
              <a:t>Diciembre es el máximo en los dos años completos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1143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05_estacionalid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2217" y="1508760"/>
            <a:ext cx="2917085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806440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000000"/>
                </a:solidFill>
                <a:latin typeface="Arial"/>
              </a:rPr>
              <a:t>El patrón se repite en 2023 y 2024, lo que permite atribuirlo al cierre presupuestal y no al ruido de un año.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0000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0000"/>
                </a:solidFill>
                <a:latin typeface="Arial"/>
              </a:rPr>
              <a:t>Parte I · EDA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00000"/>
                </a:solidFill>
                <a:latin typeface="Arial"/>
              </a:rPr>
              <a:t>El uno por ciento de proveedores concentra el 47 por ciento del monto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1143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11_loren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207" y="1508760"/>
            <a:ext cx="4545105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806440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000000"/>
                </a:solidFill>
                <a:latin typeface="Arial"/>
              </a:rPr>
              <a:t>El coeficiente de Gini es 0,857 sobre un máximo de 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0000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0000"/>
                </a:solidFill>
                <a:latin typeface="Arial"/>
              </a:rPr>
              <a:t>Parte I · EDA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00000"/>
                </a:solidFill>
                <a:latin typeface="Arial"/>
              </a:rPr>
              <a:t>El Gini nacional no describe a un mercado regional típico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1143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12_gini_departamen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5645" y="1508760"/>
            <a:ext cx="5430228" cy="416051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806440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000000"/>
                </a:solidFill>
                <a:latin typeface="Arial"/>
              </a:rPr>
              <a:t>Solo Pasco y Lima superan el valor nacional, y el resto queda por debajo: la cifra del país está empujada por Lima.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0000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0000"/>
                </a:solidFill>
                <a:latin typeface="Arial"/>
              </a:rPr>
              <a:t>Parte I · EDA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00000"/>
                </a:solidFill>
                <a:latin typeface="Arial"/>
              </a:rPr>
              <a:t>La falta de competencia tiene dos formas distintas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1143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13_competen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9762" y="1508760"/>
            <a:ext cx="7081994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806440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000000"/>
                </a:solidFill>
                <a:latin typeface="Arial"/>
              </a:rPr>
              <a:t>Bajo cincuenta mil soles el 57 por ciento tuvo un solo postor, y en el resto de tramos se estabiliza cerca del 10 por ciento.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0000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0000"/>
                </a:solidFill>
                <a:latin typeface="Arial"/>
              </a:rPr>
              <a:t>Parte I · Spark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00000"/>
                </a:solidFill>
                <a:latin typeface="Arial"/>
              </a:rPr>
              <a:t>MapReduce sobre RDD frente a DataFrames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1143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14_rdd_vs_data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312" y="1508760"/>
            <a:ext cx="6982895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806440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000000"/>
                </a:solidFill>
                <a:latin typeface="Arial"/>
              </a:rPr>
              <a:t>El mismo resultado, verificado con exceptAll en ambos sentidos, cuesta tres veces más en RDD por la serialización hacia Python.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0000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0000"/>
                </a:solidFill>
                <a:latin typeface="Arial"/>
              </a:rPr>
              <a:t>Parte I · Spark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00000"/>
                </a:solidFill>
                <a:latin typeface="Arial"/>
              </a:rPr>
              <a:t>El particionado por año permite descartar directorios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1143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15_shuff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8250" y="1508760"/>
            <a:ext cx="8045018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806440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000000"/>
                </a:solidFill>
                <a:latin typeface="Arial"/>
              </a:rPr>
              <a:t>La ejecución adaptativa amortigua casi por completo una mala elección del número de particiones de barajado.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0000"/>
                </a:solidFill>
                <a:latin typeface="Arial"/>
              </a:rPr>
              <a:t>Parte II · Similitud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00000"/>
                </a:solidFill>
                <a:latin typeface="Arial"/>
              </a:rPr>
              <a:t>El tamaño del shingle no se optimiza, se fija con un criterio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1143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16_calibracion_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1296" y="1508760"/>
            <a:ext cx="7438926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806440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000000"/>
                </a:solidFill>
                <a:latin typeface="Arial"/>
              </a:rPr>
              <a:t>Las dos curvas bajan juntas, así que se toma el k más pequeño que deja el fondo de pares no relacionados por debajo de 0,02.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0000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0000"/>
                </a:solidFill>
                <a:latin typeface="Arial"/>
              </a:rPr>
              <a:t>Parte II · MinHash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00000"/>
                </a:solidFill>
                <a:latin typeface="Arial"/>
              </a:rPr>
              <a:t>El error baja como uno sobre la raíz de 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1143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18_error_minh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2902" y="1508760"/>
            <a:ext cx="7075714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806440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000000"/>
                </a:solidFill>
                <a:latin typeface="Arial"/>
              </a:rPr>
              <a:t>Cuadruplicar las funciones hash solo divide el error entre dos, y con 128 ya queda por debajo del ancho de decisión de LSH.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0000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0000"/>
                </a:solidFill>
                <a:latin typeface="Arial"/>
              </a:rPr>
              <a:t>Parte II · LSH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00000"/>
                </a:solidFill>
                <a:latin typeface="Arial"/>
              </a:rPr>
              <a:t>Las bandas y las filas definen qué se considera parecido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1143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19_curva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154" y="1508760"/>
            <a:ext cx="7371210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806440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000000"/>
                </a:solidFill>
                <a:latin typeface="Arial"/>
              </a:rPr>
              <a:t>El umbral teórico marca el cambio de concavidad de la curva, donde la probabilidad vale 1 menos 1 sobre e y no un medio.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0000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0000"/>
                </a:solidFill>
                <a:latin typeface="Arial"/>
              </a:rPr>
              <a:t>Parte II · LSH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00000"/>
                </a:solidFill>
                <a:latin typeface="Arial"/>
              </a:rPr>
              <a:t>Falsos positivos frente a falsos negativos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1143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00200"/>
          <a:ext cx="11064237" cy="30723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47423"/>
                <a:gridCol w="1728787"/>
                <a:gridCol w="1901666"/>
                <a:gridCol w="1901666"/>
                <a:gridCol w="1037272"/>
                <a:gridCol w="2247423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Arial"/>
                        </a:rPr>
                        <a:t>Configuración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Arial"/>
                        </a:rPr>
                        <a:t>Candidatos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Arial"/>
                        </a:rPr>
                        <a:t>Falsos pos.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Arial"/>
                        </a:rPr>
                        <a:t>Falsos neg.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Arial"/>
                        </a:rPr>
                        <a:t>Recall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Arial"/>
                        </a:rPr>
                        <a:t>% a verificar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b=128, r=1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993.962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993.699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1,0000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49,7230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b=64, r=2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171.259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170.997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0,9962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8,5670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b=42, r=3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32.337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32.106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0,8783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1,6180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b=32, r=4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1.177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1.051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137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0,4791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0,0590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b=25, r=5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139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188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0,2852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0,0070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b=21, r=6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222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0,1559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0,0030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b=16, r=8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239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0,0913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0,0010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806440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000000"/>
                </a:solidFill>
                <a:latin typeface="Arial"/>
              </a:rPr>
              <a:t>Un falso positivo lo elimina la verificación exacta posterior y es solo trabajo; un falso negativo se pierde para siempre.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0000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0000"/>
                </a:solidFill>
                <a:latin typeface="Arial"/>
              </a:rPr>
              <a:t>Parte II · LSH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00000"/>
                </a:solidFill>
                <a:latin typeface="Arial"/>
              </a:rPr>
              <a:t>Un caso concreto encontrado por el método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1143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00200"/>
          <a:ext cx="11064239" cy="23042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80375"/>
                <a:gridCol w="5041932"/>
                <a:gridCol w="5041932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Jaccard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Entidad 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Entidad B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1,000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AUTORIDAD NACIONAL DEL AGUA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AUTORIDAD NACIONAL DEL AGUA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1,000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CENTRO NACIONAL DE ABASTECIMIENTO D…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CENTRO NACIONAL DE ABASTECIMIENTO D…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0,963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MUNICIPALIDAD DISTRITAL DE TAMBO DE…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MUNICIPALIDAD DISTRITAL DE SAN BART…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0,934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UNIDAD EJECUTORA 003 GESTION INTEGR…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UNIDAD EJECUTORA 003 GESTION INTEGR…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0,869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COMISION DE PROMOCION DEL PERU PARA…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COMISION DE PROMOCION DEL PERU PARA…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806440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000000"/>
                </a:solidFill>
                <a:latin typeface="Arial"/>
              </a:rPr>
              <a:t>Los pares de la misma entidad son reconvocatorias del mismo objeto, y el de Tambo de Mora con San Bartolo son dos municipalidades distintas que comparten el pliego del programa Vaso de Leche, lo que indica una plantilla reutilizada y no una irregularidad.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0000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0000"/>
                </a:solidFill>
                <a:latin typeface="Arial"/>
              </a:rPr>
              <a:t>Parte III · ANN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00000"/>
                </a:solidFill>
                <a:latin typeface="Arial"/>
              </a:rPr>
              <a:t>El régimen de medición cambia la conclusión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1143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24_ann_vs_exac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332" y="1508760"/>
            <a:ext cx="10722854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806440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000000"/>
                </a:solidFill>
                <a:latin typeface="Arial"/>
              </a:rPr>
              <a:t>En lote el índice aproximado no aporta nada, y consulta a consulta HNSW es un orden de magnitud más rápido.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0000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0000"/>
                </a:solidFill>
                <a:latin typeface="Arial"/>
              </a:rPr>
              <a:t>Parte III · ANN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00000"/>
                </a:solidFill>
                <a:latin typeface="Arial"/>
              </a:rPr>
              <a:t>Por qué existen los índices aproximados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1143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26_escal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5289" y="1508760"/>
            <a:ext cx="7270940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806440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000000"/>
                </a:solidFill>
                <a:latin typeface="Arial"/>
              </a:rPr>
              <a:t>La búsqueda exacta crece de forma lineal con la base y HNSW casi no crece, así que la ventaja aparece al escalar.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0000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0000"/>
                </a:solidFill>
                <a:latin typeface="Arial"/>
              </a:rPr>
              <a:t>Parte IV · Flujos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00000"/>
                </a:solidFill>
                <a:latin typeface="Arial"/>
              </a:rPr>
              <a:t>El filtro de Bloom respeta su tasa teórica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1143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29_bl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9832" y="1508760"/>
            <a:ext cx="7401855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806440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000000"/>
                </a:solidFill>
                <a:latin typeface="Arial"/>
              </a:rPr>
              <a:t>Cada orden de magnitud de precisión cuesta unos diez bits más por elemento, y los falsos negativos son imposibles.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0000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0000"/>
                </a:solidFill>
                <a:latin typeface="Arial"/>
              </a:rPr>
              <a:t>Parte IV · Flujos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00000"/>
                </a:solidFill>
                <a:latin typeface="Arial"/>
              </a:rPr>
              <a:t>Por qué hacen falta Bloom y Count-Min, no uno de los 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1143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31_bloom_vs_c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75481"/>
            <a:ext cx="11064240" cy="382707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806440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000000"/>
                </a:solidFill>
                <a:latin typeface="Arial"/>
              </a:rPr>
              <a:t>Con la misma tasa de error, el Count-Min necesita sesenta y cuatro veces más memoria para responder pertenencia.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0000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0000"/>
                </a:solidFill>
                <a:latin typeface="Arial"/>
              </a:rPr>
              <a:t>Parte IV · Flujos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00000"/>
                </a:solidFill>
                <a:latin typeface="Arial"/>
              </a:rPr>
              <a:t>DGIM sobre la ventana reciente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1143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32_dg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6928" y="1508760"/>
            <a:ext cx="7967662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806440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000000"/>
                </a:solidFill>
                <a:latin typeface="Arial"/>
              </a:rPr>
              <a:t>El peor error observado queda muy por debajo de la cota del cincuenta por ciento que garantizan dos cubos por tamaño.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0000"/>
                </a:solidFill>
                <a:latin typeface="Arial"/>
              </a:rPr>
              <a:t>Parte IV · Flujos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00000"/>
                </a:solidFill>
                <a:latin typeface="Arial"/>
              </a:rPr>
              <a:t>El tiempo es la tercera dimensión del compromiso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1143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38_tiempos_estructur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3307" y="1508760"/>
            <a:ext cx="8894904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806440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000000"/>
                </a:solidFill>
                <a:latin typeface="Arial"/>
              </a:rPr>
              <a:t>Estas estructuras no ahorran tiempo: cambian memoria por tiempo y por un error acotado.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0000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0000"/>
                </a:solidFill>
                <a:latin typeface="Arial"/>
              </a:rPr>
              <a:t>Parte IV · Flujos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00000"/>
                </a:solidFill>
                <a:latin typeface="Arial"/>
              </a:rPr>
              <a:t>Las cinco estructuras, lado a lado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1143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00200"/>
          <a:ext cx="11064238" cy="23042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33556"/>
                <a:gridCol w="4081952"/>
                <a:gridCol w="4296792"/>
                <a:gridCol w="751938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Estructura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Qué pregunta responde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Memoria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Tiempo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Muestreo por clave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métricas por entidad sobre una muestra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proporcional a la fracción de claves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0.93 us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Reservoir sampling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proporciones sobre todo el flujo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k elementos, fija y conocida de antemano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1.10 us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Bloom Filter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apareció antes este proveedor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79.0 KiB para 67,510 claves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7.35 us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Count-Min Sketch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cuántas veces apareció cada ítem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149 KiB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7.74 us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DGIM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cuántos en los últimos N elementos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20 cubos para N=150,000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0.51 us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806440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000000"/>
                </a:solidFill>
                <a:latin typeface="Arial"/>
              </a:rPr>
              <a:t>Ninguna sustituye a otra: responden preguntas distintas sobre el mismo flujo.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0000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0000"/>
                </a:solidFill>
                <a:latin typeface="Arial"/>
              </a:rPr>
              <a:t>Parte V · Reglas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00000"/>
                </a:solidFill>
                <a:latin typeface="Arial"/>
              </a:rPr>
              <a:t>La definición de transacción era el problema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1143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34_definicion_transac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17904"/>
            <a:ext cx="11064240" cy="394223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806440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000000"/>
                </a:solidFill>
                <a:latin typeface="Arial"/>
              </a:rPr>
              <a:t>La canasta natural tiene coocurrencia en el 2 por ciento de los procesos, así que se redefine como lo que una entidad compra en un mes.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0000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0000"/>
                </a:solidFill>
                <a:latin typeface="Arial"/>
              </a:rPr>
              <a:t>Parte V · Reglas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00000"/>
                </a:solidFill>
                <a:latin typeface="Arial"/>
              </a:rPr>
              <a:t>Por qué FP-Growth desplazó a A-Priori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1143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35_apriori_vs_fpgrow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7843" y="1508760"/>
            <a:ext cx="7325832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806440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000000"/>
                </a:solidFill>
                <a:latin typeface="Arial"/>
              </a:rPr>
              <a:t>Al bajar el umbral de soporte, A-Priori explota en candidatos y FP-Growth se mantiene plano.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0000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0000"/>
                </a:solidFill>
                <a:latin typeface="Arial"/>
              </a:rPr>
              <a:t>Parte V · Reglas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00000"/>
                </a:solidFill>
                <a:latin typeface="Arial"/>
              </a:rPr>
              <a:t>Reglas con soporte, confianza y lift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1143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00200"/>
          <a:ext cx="11064238" cy="34564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40688"/>
                <a:gridCol w="3940688"/>
                <a:gridCol w="1060954"/>
                <a:gridCol w="1364084"/>
                <a:gridCol w="757824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Arial"/>
                        </a:rPr>
                        <a:t>Si compra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Arial"/>
                        </a:rPr>
                        <a:t>También compra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Arial"/>
                        </a:rPr>
                        <a:t>Soporte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Arial"/>
                        </a:rPr>
                        <a:t>Confianza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Arial"/>
                        </a:rPr>
                        <a:t>Lift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CONSERVA DE ENTERO DE SAR…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ACEITE VEGETAL COMESTIBLE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0,0042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0,386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50,90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ACEITE VEGETAL COMESTIBLE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CONSERVA DE ENTERO DE SAR…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0,0042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0,550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50,90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ACEITE VEGETAL COMESTIBLE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ARROZ PILADO SUPERIOR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0,0047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0,616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37,85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ARROZ PILADO SUPERIOR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CONSERVA DE ENTERO DE SAR…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0,0054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0,330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30,58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CONSERVA DE ENTERO DE SAR…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ARROZ PILADO SUPERIOR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0,0054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0,498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30,58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SERVICIO DE ALQUILER DE C…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SERVICIO DE ALQUILER DE E…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0,0043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0,705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18,13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SERVICIO DE ALQUILER DE C…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SERVICIO DE ALQUILER DE E…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0,0089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0,604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15,54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HOJUELA DE AVENA, QUINUA…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LECHE EVAPORADA ENTERA X…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0,0160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0,697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8,81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806440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000000"/>
                </a:solidFill>
                <a:latin typeface="Arial"/>
              </a:rPr>
              <a:t>El lift es el criterio de selección: una confianza alta sobre un ítem ya frecuente no dice nada.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0000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0000"/>
                </a:solidFill>
                <a:latin typeface="Arial"/>
              </a:rPr>
              <a:t>Parte V · Reglas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00000"/>
                </a:solidFill>
                <a:latin typeface="Arial"/>
              </a:rPr>
              <a:t>Dónde se concentra la falta de competencia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1143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37_postor_uni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5291" y="1508760"/>
            <a:ext cx="6970937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806440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000000"/>
                </a:solidFill>
                <a:latin typeface="Arial"/>
              </a:rPr>
              <a:t>El suelo de procesos sin competencia no se reparte al azar, aunque parte de lo que aparece es administrativamente esperable.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0000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0000"/>
                </a:solidFill>
                <a:latin typeface="Arial"/>
              </a:rPr>
              <a:t>Parte VI · Discusión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00000"/>
                </a:solidFill>
                <a:latin typeface="Arial"/>
              </a:rPr>
              <a:t>Qué aportó cada técnica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1143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8813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90000"/>
              </a:lnSpc>
            </a:pPr>
            <a:r>
              <a:rPr sz="2000" b="0">
                <a:solidFill>
                  <a:srgbClr val="000000"/>
                </a:solidFill>
                <a:latin typeface="Arial"/>
              </a:rPr>
              <a:t>•   El EDA y la curva de Lorenz contestan la concentración con un número</a:t>
            </a:r>
          </a:p>
          <a:p>
            <a:pPr algn="l">
              <a:lnSpc>
                <a:spcPct val="190000"/>
              </a:lnSpc>
            </a:pPr>
            <a:r>
              <a:rPr sz="2000" b="0">
                <a:solidFill>
                  <a:srgbClr val="000000"/>
                </a:solidFill>
                <a:latin typeface="Arial"/>
              </a:rPr>
              <a:t>•   LSH aporta los candidatos de objetos duplicados</a:t>
            </a:r>
          </a:p>
          <a:p>
            <a:pPr algn="l">
              <a:lnSpc>
                <a:spcPct val="190000"/>
              </a:lnSpc>
            </a:pPr>
            <a:r>
              <a:rPr sz="2000" b="0">
                <a:solidFill>
                  <a:srgbClr val="000000"/>
                </a:solidFill>
                <a:latin typeface="Arial"/>
              </a:rPr>
              <a:t>•   Las reglas contestan dónde se concentra la falta de competencia</a:t>
            </a:r>
          </a:p>
          <a:p>
            <a:pPr algn="l">
              <a:lnSpc>
                <a:spcPct val="190000"/>
              </a:lnSpc>
            </a:pPr>
            <a:r>
              <a:rPr sz="2000" b="0">
                <a:solidFill>
                  <a:srgbClr val="000000"/>
                </a:solidFill>
                <a:latin typeface="Arial"/>
              </a:rPr>
              <a:t>•   La búsqueda de vecinos aportó poco a las preguntas y mucho al aprendizaje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0000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0000"/>
                </a:solidFill>
                <a:latin typeface="Arial"/>
              </a:rPr>
              <a:t>Parte VI · Discusión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00000"/>
                </a:solidFill>
                <a:latin typeface="Arial"/>
              </a:rPr>
              <a:t>Qué se benefició de Spark y qué no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1143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8813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90000"/>
              </a:lnSpc>
            </a:pPr>
            <a:r>
              <a:rPr sz="2000" b="0">
                <a:solidFill>
                  <a:srgbClr val="000000"/>
                </a:solidFill>
                <a:latin typeface="Arial"/>
              </a:rPr>
              <a:t>•   Sí: la ingesta, el EDA y el agrupamiento por bandas de LSH</a:t>
            </a:r>
          </a:p>
          <a:p>
            <a:pPr algn="l">
              <a:lnSpc>
                <a:spcPct val="190000"/>
              </a:lnSpc>
            </a:pPr>
            <a:r>
              <a:rPr sz="2000" b="0">
                <a:solidFill>
                  <a:srgbClr val="000000"/>
                </a:solidFill>
                <a:latin typeface="Arial"/>
              </a:rPr>
              <a:t>•   No: la búsqueda de vecinos, donde un nodo con FAISS es mejor herramienta</a:t>
            </a:r>
          </a:p>
          <a:p>
            <a:pPr algn="l">
              <a:lnSpc>
                <a:spcPct val="190000"/>
              </a:lnSpc>
            </a:pPr>
            <a:r>
              <a:rPr sz="2000" b="0">
                <a:solidFill>
                  <a:srgbClr val="000000"/>
                </a:solidFill>
                <a:latin typeface="Arial"/>
              </a:rPr>
              <a:t>•   No: la minería de flujos, cuyo recorrido es secuencial y con estado</a:t>
            </a:r>
          </a:p>
          <a:p>
            <a:pPr algn="l">
              <a:lnSpc>
                <a:spcPct val="190000"/>
              </a:lnSpc>
            </a:pPr>
            <a:r>
              <a:rPr sz="2000" b="0">
                <a:solidFill>
                  <a:srgbClr val="000000"/>
                </a:solidFill>
                <a:latin typeface="Arial"/>
              </a:rPr>
              <a:t>•   Afirmar que todo mejoró con Spark sería falso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0000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0000"/>
                </a:solidFill>
                <a:latin typeface="Arial"/>
              </a:rPr>
              <a:t>Parte VI · Discusión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00000"/>
                </a:solidFill>
                <a:latin typeface="Arial"/>
              </a:rPr>
              <a:t>Lo que este trabajo no autoriza a concluir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1143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8813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90000"/>
              </a:lnSpc>
            </a:pPr>
            <a:r>
              <a:rPr sz="2000" b="0">
                <a:solidFill>
                  <a:srgbClr val="000000"/>
                </a:solidFill>
                <a:latin typeface="Arial"/>
              </a:rPr>
              <a:t>•   Que dos objetos casi idénticos impliquen fraccionamiento o colusión</a:t>
            </a:r>
          </a:p>
          <a:p>
            <a:pPr algn="l">
              <a:lnSpc>
                <a:spcPct val="190000"/>
              </a:lnSpc>
            </a:pPr>
            <a:r>
              <a:rPr sz="2000" b="0">
                <a:solidFill>
                  <a:srgbClr val="000000"/>
                </a:solidFill>
                <a:latin typeface="Arial"/>
              </a:rPr>
              <a:t>•   Que una concentración alta implique conducta anticompetitiva</a:t>
            </a:r>
          </a:p>
          <a:p>
            <a:pPr algn="l">
              <a:lnSpc>
                <a:spcPct val="190000"/>
              </a:lnSpc>
            </a:pPr>
            <a:r>
              <a:rPr sz="2000" b="0">
                <a:solidFill>
                  <a:srgbClr val="000000"/>
                </a:solidFill>
                <a:latin typeface="Arial"/>
              </a:rPr>
              <a:t>•   Que una regla con lift alto implique causalidad</a:t>
            </a:r>
          </a:p>
          <a:p>
            <a:pPr algn="l">
              <a:lnSpc>
                <a:spcPct val="190000"/>
              </a:lnSpc>
            </a:pPr>
            <a:r>
              <a:rPr sz="2000" b="0">
                <a:solidFill>
                  <a:srgbClr val="000000"/>
                </a:solidFill>
                <a:latin typeface="Arial"/>
              </a:rPr>
              <a:t>•   Que estas cifras sean oficiales: describen el paquete descargado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0000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0000"/>
                </a:solidFill>
                <a:latin typeface="Arial"/>
              </a:rPr>
              <a:t>Cierre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00000"/>
                </a:solidFill>
                <a:latin typeface="Arial"/>
              </a:rPr>
              <a:t>Entregables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1143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8813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90000"/>
              </a:lnSpc>
            </a:pPr>
            <a:r>
              <a:rPr sz="2000" b="0">
                <a:solidFill>
                  <a:srgbClr val="000000"/>
                </a:solidFill>
                <a:latin typeface="Arial"/>
              </a:rPr>
              <a:t>•   Seis notebooks ejecutados, uno por parte, con sus módulos de apoyo</a:t>
            </a:r>
          </a:p>
          <a:p>
            <a:pPr algn="l">
              <a:lnSpc>
                <a:spcPct val="190000"/>
              </a:lnSpc>
            </a:pPr>
            <a:r>
              <a:rPr sz="2000" b="0">
                <a:solidFill>
                  <a:srgbClr val="000000"/>
                </a:solidFill>
                <a:latin typeface="Arial"/>
              </a:rPr>
              <a:t>•   Documento con la justificación detallada de cada decisión</a:t>
            </a:r>
          </a:p>
          <a:p>
            <a:pPr algn="l">
              <a:lnSpc>
                <a:spcPct val="190000"/>
              </a:lnSpc>
            </a:pPr>
            <a:r>
              <a:rPr sz="2000" b="0">
                <a:solidFill>
                  <a:srgbClr val="000000"/>
                </a:solidFill>
                <a:latin typeface="Arial"/>
              </a:rPr>
              <a:t>•   Informe de seis páginas con la propuesta y los hallazgos</a:t>
            </a:r>
          </a:p>
          <a:p>
            <a:pPr algn="l">
              <a:lnSpc>
                <a:spcPct val="190000"/>
              </a:lnSpc>
            </a:pPr>
            <a:r>
              <a:rPr sz="2000" b="0">
                <a:solidFill>
                  <a:srgbClr val="000000"/>
                </a:solidFill>
                <a:latin typeface="Arial"/>
              </a:rPr>
              <a:t>•   Reporte web interactivo con quince figuras y seis parámetros ajustables en vivo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0000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