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Patrones del Gasto Público Peruano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Minería de Datos Masivos y Flujos de Datos sobre contrataciones del Estado peruano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Ricardo Amiel Acuña Villogas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Juan Leibniz Aquino Espinoza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Camilo Ernesto Soto Cristóbal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Contrataciones Abiertas del Perú, estándar OCDS, publicación 135 del registro de Open Contracting Partnership. Paquetes 2023 a 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Dataset y preguntas de interés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2,98 GB de CSV en 21 tablas por año, 2023 a 2025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281.462 procesos crudos, 177.398 tras la limpieza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Pregunta 1: qué tan concentrado está el gasto en pocos proveedores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Pregunta 2: qué relación hay entre número de postores y monto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Pregunta 3: hay apresuramiento del gasto al cierre del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KDD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Cada decisión de limpieza queda registrada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8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5821"/>
                <a:gridCol w="6405612"/>
                <a:gridCol w="2183731"/>
                <a:gridCol w="101907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Paso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Qué hace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Filas afectadas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Quedan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entrada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tabla analitica cruda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281.462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duplicados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una fila por ocid, la mas reciente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281.462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descarte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monto_pen nulo o no positivo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22.830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258.632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descarte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fecha fuera de 2023 a 2025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81.234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imputacion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n_postores con la mediana de su metodo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6.655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marca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monto fuera de [6.37, 17.99] en escala log,…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recorte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n_postores winsorizado al percentil 99,9, t…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177.398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motor de limpieza devuelve una bitácora, de modo que ningún descarte queda escondido en el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KDD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Dos decisiones cuestan el 37 por ciento de las filas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2_emb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81" y="1508760"/>
            <a:ext cx="9923756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Se descartan los montos no positivos, que son campos no publicados, y las convocatorias fuera de la ventana 2023 a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Diciembre es el máximo en los dos años completos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05_estacion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17" y="1508760"/>
            <a:ext cx="291708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patrón se repite en 2023 y 2024, lo que permite atribuirlo al cierre presupuestal y no al ruido de un año.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uno por ciento de proveedores concentra el 47 por ciento del monto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1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207" y="1508760"/>
            <a:ext cx="454510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coeficiente de Gini es 0,857 sobre un máximo de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Gini nacional no describe a un mercado regional típico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2_gini_depart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645" y="1508760"/>
            <a:ext cx="5430228" cy="4160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Solo Pasco y Lima superan el valor nacional, y el resto queda por debajo: la cifra del país está empujada por Lima.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 falta de competencia tiene dos formas distintas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3_compet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62" y="1508760"/>
            <a:ext cx="708199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Bajo cincuenta mil soles el 57 por ciento tuvo un solo postor, y en el resto de tramos se estabiliza cerca del 10 por ciento.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MapReduce sobre RDD frente a DataFrames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4_rdd_vs_data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12" y="1508760"/>
            <a:ext cx="698289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mismo resultado, verificado con exceptAll en ambos sentidos, cuesta tres veces más en RDD por la serialización hacia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 ·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particionado por año permite descartar directorios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5_shuff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250" y="1508760"/>
            <a:ext cx="8045018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 ejecución adaptativa amortigua casi por completo una mala elección del número de particiones de barajado.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Similitud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tamaño del shingle no se optimiza, se fija con un criterio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6_calibracio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296" y="1508760"/>
            <a:ext cx="7438926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Las dos curvas bajan juntas, así que se toma el k más pequeño que deja el fondo de pares no relacionados por debajo de 0,02.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MinHash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error baja como uno sobre la raíz de 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8_error_min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02" y="1508760"/>
            <a:ext cx="707571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Cuadruplicar las funciones hash solo divide el error entre dos, y con 128 ya queda por debajo del ancho de decisión de LSH.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LSH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Las bandas y las filas definen qué se considera parecido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9_curva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154" y="1508760"/>
            <a:ext cx="737121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umbral teórico marca el cambio de concavidad de la curva, donde la probabilidad vale 1 menos 1 sobre e y no un medio.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LSH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Falsos positivos frente a falsos negativos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7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423"/>
                <a:gridCol w="1728787"/>
                <a:gridCol w="1901666"/>
                <a:gridCol w="1901666"/>
                <a:gridCol w="1037272"/>
                <a:gridCol w="224742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Configuración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Candidatos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Falsos pos.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Falsos neg.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% a verificar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b=128, r=1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993.962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993.699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1,0000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49,7230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b=64, r=2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171.259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170.997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0,9962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8,5670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b=42, r=3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32.337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32.106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0,8783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1,6180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b=32, r=4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1.177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1.051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0,4791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0,0590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b=25, r=5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0,2852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b=21, r=6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0,1559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b=16, r=8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0,0913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Un falso positivo lo elimina la verificación exacta posterior y es solo trabajo; un falso negativo se pierde para siempre.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 · LSH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Un caso concreto encontrado por el método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9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375"/>
                <a:gridCol w="5041932"/>
                <a:gridCol w="504193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Jaccard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Entidad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Entidad 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AUTORIDAD NACIONAL DEL AGUA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AUTORIDAD NACIONAL DEL AGUA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CENTRO NACIONAL DE ABASTECIMIENTO D…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CENTRO NACIONAL DE ABASTECIMIENTO D…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0,963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MUNICIPALIDAD DISTRITAL DE TAMBO DE…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MUNICIPALIDAD DISTRITAL DE SAN BART…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0,934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UNIDAD EJECUTORA 003 GESTION INTEGR…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UNIDAD EJECUTORA 003 GESTION INTEGR…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0,869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COMISION DE PROMOCION DEL PERU PARA…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COMISION DE PROMOCION DEL PERU PARA…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Los pares de la misma entidad son reconvocatorias del mismo objeto, y el de Tambo de Mora con San Bartolo son dos municipalidades distintas que comparten el pliego del programa Vaso de Leche, lo que indica una plantilla reutilizada y no una irregularidad.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III · 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régimen de medición cambia la conclusión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4_ann_vs_ex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32" y="1508760"/>
            <a:ext cx="1072285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En lote el índice aproximado no aporta nada, y consulta a consulta HNSW es un orden de magnitud más rápido.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III · 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Por qué existen los índices aproximados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6_esca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289" y="1508760"/>
            <a:ext cx="727094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 búsqueda exacta crece de forma lineal con la base y HNSW casi no crece, así que la ventaja aparece al escalar.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filtro de Bloom respeta su tasa teórica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9_bl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832" y="1508760"/>
            <a:ext cx="740185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Cada orden de magnitud de precisión cuesta unos diez bits más por elemento, y los falsos negativos son imposibles.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Por qué hacen falta Bloom y Count-Min, no uno de los 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1_bloom_vs_c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481"/>
            <a:ext cx="11064240" cy="3827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Con la misma tasa de error, el Count-Min necesita sesenta y cuatro veces más memoria para responder pertenencia.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DGIM sobre la ventana reciente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2_dg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928" y="1508760"/>
            <a:ext cx="796766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peor error observado queda muy por debajo de la cota del cincuenta por ciento que garantizan dos cubos por tamaño.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El tiempo es la tercera dimensión del compromiso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8_tiempos_estruc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07" y="1508760"/>
            <a:ext cx="889490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Estas estructuras no ahorran tiempo: cambian memoria por tiempo y por un error acotado.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IV · Flujos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Las cinco estructuras, lado a 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8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3556"/>
                <a:gridCol w="4081952"/>
                <a:gridCol w="4296792"/>
                <a:gridCol w="75193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Estructura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Qué pregunta responde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Memoria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Tiempo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Muestreo por clave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métricas por entidad sobre una muestra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proporcional a la fracción de claves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0.93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Reservoir sampling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proporciones sobre todo el flujo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k elementos, fija y conocida de antemano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1.10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Bloom Filter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apareció antes este proveedor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79.0 KiB para 67,510 claves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7.35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Count-Min Sketch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cuántas veces apareció cada ítem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149 KiB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7.74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DGIM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cuántos en los últimos N elementos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20 cubos para N=150,000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0.51 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Ninguna sustituye a otra: responden preguntas distintas sobre el mismo flujo.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La definición de transacción era 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4_definicion_transa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7904"/>
            <a:ext cx="11064240" cy="3942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La canasta natural tiene coocurrencia en el 2 por ciento de los procesos, así que se redefine como lo que una entidad compra en un 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Por qué FP-Growth desplazó a A-Priori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5_apriori_vs_fp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843" y="1508760"/>
            <a:ext cx="732583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Al bajar el umbral de soporte, A-Priori explota en candidatos y FP-Growth se mantiene plano.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Reglas con soporte, confianza y 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8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0688"/>
                <a:gridCol w="3940688"/>
                <a:gridCol w="1060954"/>
                <a:gridCol w="1364084"/>
                <a:gridCol w="75782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Si compra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También compra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Soporte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Confianza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Lift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ACEITE VEGETAL COMESTIBLE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0,386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50,90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ACEITE VEGETAL COMESTIBLE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0,550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50,90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ACEITE VEGETAL COMESTIBLE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ARROZ PILADO SUPERIOR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0,616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37,85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ARROZ PILADO SUPERIOR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0,330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30,58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CONSERVA DE ENTERO DE SAR…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ARROZ PILADO SUPERIOR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0,498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30,58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C…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E…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0,705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18,13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C…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SERVICIO DE ALQUILER DE E…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0,0089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0,604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15,54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HOJUELA DE AVENA, QUINUA…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LECHE EVAPORADA ENTERA X…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0,0160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0,697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8,81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lift es el criterio de selección: una confianza alta sobre un ítem ya frecuente no dice 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 · 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Dónde se concentra la falta de competencia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37_postor_un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91" y="1508760"/>
            <a:ext cx="697093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0000"/>
                </a:solidFill>
                <a:latin typeface="Arial"/>
              </a:rPr>
              <a:t>El suelo de procesos sin competencia no se reparte al azar, aunque parte de lo que aparece es administrativamente esperable.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VI ·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Qué aportó cada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El EDA y la curva de Lorenz contestan la concentración con un número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LSH aporta los candidatos de objetos duplicados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Las reglas contestan dónde se concentra la falta de competencia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La búsqueda de vecinos aportó poco a las preguntas y mucho al aprendizaje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VI ·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Qué se benefició de Spark y qué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Sí: la ingesta, el EDA y el agrupamiento por bandas de LSH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No: la búsqueda de vecinos, donde un nodo con FAISS es mejor herramienta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No: la minería de flujos, cuyo recorrido es secuencial y con estado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Afirmar que todo mejoró con Spark sería falso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Parte VI ·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Lo que este trabajo no autoriza a concluir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dos objetos casi idénticos impliquen fraccionamiento o colusión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una concentración alta implique conducta anticompetitiva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una regla con lift alto implique causalidad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Que estas cifras sean oficiales: describen el paquete descargado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00000"/>
                </a:solidFill>
                <a:latin typeface="Arial"/>
              </a:rPr>
              <a:t>Entregables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143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Seis notebooks ejecutados, uno por parte, con sus módulos de apoyo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Documento con la justificación detallada de cada decisión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Informe de seis páginas con la propuesta y los hallazgos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•   Reporte web interactivo con quince figuras y seis parámetros ajustables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